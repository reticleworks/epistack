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5181082884490b" /><Relationship Type="http://schemas.openxmlformats.org/officeDocument/2006/relationships/extended-properties" Target="/docProps/app.xml" Id="R1d437c0ed0f749d0" /><Relationship Type="http://schemas.openxmlformats.org/officeDocument/2006/relationships/officeDocument" Target="/ppt/presentation.xml" Id="Ref42d111d9e04f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56df03eec34c03"/>
  </p:sldMasterIdLst>
  <p:notesMasterIdLst>
    <p:notesMasterId xmlns:r="http://schemas.openxmlformats.org/officeDocument/2006/relationships" r:id="R2001360d16464651"/>
  </p:notesMasterIdLst>
  <p:sldIdLst>
    <p:sldId xmlns:r="http://schemas.openxmlformats.org/officeDocument/2006/relationships" id="256" r:id="R91acec6476344357"/>
    <p:sldId xmlns:r="http://schemas.openxmlformats.org/officeDocument/2006/relationships" id="257" r:id="R4b513568457d487c"/>
    <p:sldId xmlns:r="http://schemas.openxmlformats.org/officeDocument/2006/relationships" id="258" r:id="R2c7924f4cfbe41cb"/>
    <p:sldId xmlns:r="http://schemas.openxmlformats.org/officeDocument/2006/relationships" id="259" r:id="Rb5dfa3e2c5e44d3e"/>
    <p:sldId xmlns:r="http://schemas.openxmlformats.org/officeDocument/2006/relationships" id="260" r:id="Re636ed4adf0d480d"/>
    <p:sldId xmlns:r="http://schemas.openxmlformats.org/officeDocument/2006/relationships" id="261" r:id="R3d7c9e416ec54d5f"/>
    <p:sldId xmlns:r="http://schemas.openxmlformats.org/officeDocument/2006/relationships" id="262" r:id="R87c056e9cd8b4f96"/>
    <p:sldId xmlns:r="http://schemas.openxmlformats.org/officeDocument/2006/relationships" id="263" r:id="R49f9b030543d4b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2f9c58042c48e0" /><Relationship Type="http://schemas.openxmlformats.org/officeDocument/2006/relationships/slideMaster" Target="/ppt/slideMasters/slideMaster1.xml" Id="R9756df03eec34c03" /><Relationship Type="http://schemas.openxmlformats.org/officeDocument/2006/relationships/notesMaster" Target="/ppt/notesMasters/notesMaster1.xml" Id="R2001360d16464651" /><Relationship Type="http://schemas.openxmlformats.org/officeDocument/2006/relationships/presProps" Target="/ppt/presProps.xml" Id="R30c86774200e4071" /><Relationship Type="http://schemas.openxmlformats.org/officeDocument/2006/relationships/tableStyles" Target="/ppt/tableStyles.xml" Id="R9a1e38325a6d4c1a" /><Relationship Type="http://schemas.openxmlformats.org/officeDocument/2006/relationships/slide" Target="/ppt/slides/slide1.xml" Id="R91acec6476344357" /><Relationship Type="http://schemas.openxmlformats.org/officeDocument/2006/relationships/slide" Target="/ppt/slides/slide2.xml" Id="R4b513568457d487c" /><Relationship Type="http://schemas.openxmlformats.org/officeDocument/2006/relationships/slide" Target="/ppt/slides/slide3.xml" Id="R2c7924f4cfbe41cb" /><Relationship Type="http://schemas.openxmlformats.org/officeDocument/2006/relationships/slide" Target="/ppt/slides/slide4.xml" Id="Rb5dfa3e2c5e44d3e" /><Relationship Type="http://schemas.openxmlformats.org/officeDocument/2006/relationships/slide" Target="/ppt/slides/slide5.xml" Id="Re636ed4adf0d480d" /><Relationship Type="http://schemas.openxmlformats.org/officeDocument/2006/relationships/slide" Target="/ppt/slides/slide6.xml" Id="R3d7c9e416ec54d5f" /><Relationship Type="http://schemas.openxmlformats.org/officeDocument/2006/relationships/slide" Target="/ppt/slides/slide7.xml" Id="R87c056e9cd8b4f96" /><Relationship Type="http://schemas.openxmlformats.org/officeDocument/2006/relationships/slide" Target="/ppt/slides/slide8.xml" Id="R49f9b030543d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32a2ce60b04f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ec66d84004de9" /><Relationship Type="http://schemas.openxmlformats.org/officeDocument/2006/relationships/notesMaster" Target="/ppt/notesMasters/notesMaster1.xml" Id="R0193edf576524a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56bbeaff6b4070" /><Relationship Type="http://schemas.openxmlformats.org/officeDocument/2006/relationships/notesMaster" Target="/ppt/notesMasters/notesMaster1.xml" Id="R72bd0cd7a83142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dd9b1042c240b7" /><Relationship Type="http://schemas.openxmlformats.org/officeDocument/2006/relationships/notesMaster" Target="/ppt/notesMasters/notesMaster1.xml" Id="R2a18226d31d548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51dab94e064189" /><Relationship Type="http://schemas.openxmlformats.org/officeDocument/2006/relationships/notesMaster" Target="/ppt/notesMasters/notesMaster1.xml" Id="R44c34384b66b49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af9dadc3bf4c06" /><Relationship Type="http://schemas.openxmlformats.org/officeDocument/2006/relationships/notesMaster" Target="/ppt/notesMasters/notesMaster1.xml" Id="Re187a27ee98545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08f0e06cd844f9" /><Relationship Type="http://schemas.openxmlformats.org/officeDocument/2006/relationships/notesMaster" Target="/ppt/notesMasters/notesMaster1.xml" Id="R7e13ec6964a94e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eaf9c45a2c4c97" /><Relationship Type="http://schemas.openxmlformats.org/officeDocument/2006/relationships/notesMaster" Target="/ppt/notesMasters/notesMaster1.xml" Id="Rdd47605a769c43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55f0798afb4663" /><Relationship Type="http://schemas.openxmlformats.org/officeDocument/2006/relationships/notesMaster" Target="/ppt/notesMasters/notesMaster1.xml" Id="Re195855e3d9a4c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5abfe2bd641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5e162e83b44749" /><Relationship Type="http://schemas.openxmlformats.org/officeDocument/2006/relationships/slideLayout" Target="/ppt/slideLayouts/slideLayout1.xml" Id="R0a5dfc61c5514c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5dfc61c5514c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680fbf18242a3" /><Relationship Type="http://schemas.openxmlformats.org/officeDocument/2006/relationships/notesSlide" Target="/ppt/notesSlides/notesSlide1.xml" Id="R84d4e3e12d6543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475af00544083" /><Relationship Type="http://schemas.openxmlformats.org/officeDocument/2006/relationships/notesSlide" Target="/ppt/notesSlides/notesSlide2.xml" Id="Rf03dca99c8874b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3f2abc88f4af4" /><Relationship Type="http://schemas.openxmlformats.org/officeDocument/2006/relationships/notesSlide" Target="/ppt/notesSlides/notesSlide3.xml" Id="Rcc7cd5b105694b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7b09da0934eb5" /><Relationship Type="http://schemas.openxmlformats.org/officeDocument/2006/relationships/notesSlide" Target="/ppt/notesSlides/notesSlide4.xml" Id="Re4f36e1fa77249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fd61aa2af4c28" /><Relationship Type="http://schemas.openxmlformats.org/officeDocument/2006/relationships/notesSlide" Target="/ppt/notesSlides/notesSlide5.xml" Id="R8c7e7c5919be48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44e0d430c42ab" /><Relationship Type="http://schemas.openxmlformats.org/officeDocument/2006/relationships/notesSlide" Target="/ppt/notesSlides/notesSlide6.xml" Id="R73e8be3967e34e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86ef1f57b4f97" /><Relationship Type="http://schemas.openxmlformats.org/officeDocument/2006/relationships/notesSlide" Target="/ppt/notesSlides/notesSlide7.xml" Id="R42d47b104db145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c78ade38d49ef" /><Relationship Type="http://schemas.openxmlformats.org/officeDocument/2006/relationships/notesSlide" Target="/ppt/notesSlides/notesSlide8.xml" Id="R4d7a28857a3841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511E3E2-6A1A-4647-A3F8-D851E5CB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A1B"/>
                </a:solidFill>
              </a:defRPr>
            </a:pPr>
            <a:r>
              <a:rPr sz="1050" b="1">
                <a:solidFill>
                  <a:srgbClr val="D84A1B"/>
                </a:solidFill>
              </a:rPr>
              <a:t>INSPECTABLE RESEARCH CASE RECORD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AD5CCB7E-84BC-4B7D-A34F-E987DB3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752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Epistack keeps the work</a:t>
            </a:r>
          </a:p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behind an answer inspectable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A7B36DA-D6AF-4EFD-9CE2-660C9B2E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695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It preserves sources, separate judgments, the claim carrying the conclusion, and the relationships behind its support.</a:t>
            </a:r>
          </a:p>
        </p:txBody>
      </p:sp>
      <p:sp>
        <p:nvSpPr>
          <p:cNvPr id="4" name="cover-field">
            <a:extLst xmlns:a="http://schemas.openxmlformats.org/drawingml/2006/main">
              <a:ext uri="{FF2B5EF4-FFF2-40B4-BE49-F238E27FC236}">
                <a16:creationId xmlns:a16="http://schemas.microsoft.com/office/drawing/2014/main" id="{C0E4296D-68A3-4B18-9453-BE56377D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9DFC02-8459-4DCB-8034-E1ABC5A1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047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A1B"/>
                </a:solidFill>
              </a:defRPr>
            </a:pPr>
            <a:r>
              <a:rPr sz="1050" b="1">
                <a:solidFill>
                  <a:srgbClr val="D84A1B"/>
                </a:solidFill>
              </a:rPr>
              <a:t>TWO EVIDENCE CASES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A7B803-B22F-4F4E-B4BF-04C574C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954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COVID origins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46927D6-531D-4453-BCBD-F4374BB1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717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 contested inference and a concrete crux record.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EFE843-8D66-4D1B-A360-D40A9483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LHC safety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FCC64B-6E34-43AC-89E9-2950E1E1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955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 settled conclusion used to test branching arguments and documentary relationships.</a:t>
            </a:r>
          </a:p>
        </p:txBody>
      </p:sp>
      <p:sp>
        <p:nvSpPr>
          <p:cNvPr id="10" name="footer-mark">
            <a:extLst xmlns:a="http://schemas.openxmlformats.org/drawingml/2006/main">
              <a:ext uri="{FF2B5EF4-FFF2-40B4-BE49-F238E27FC236}">
                <a16:creationId xmlns:a16="http://schemas.microsoft.com/office/drawing/2014/main" id="{DAE3AEED-CB32-452D-AE48-D3C3C77F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151B947-8E64-46E3-9844-DE807018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EPISTACK</a:t>
            </a:r>
          </a:p>
        </p:txBody>
      </p:sp>
      <p:sp>
        <p:nvSpPr>
          <p:cNvPr id="12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F12191F7-0D25-4A1F-B25B-B95CF1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43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FLF EPISTEMIC CASE STUDY COMPETITION</a:t>
            </a:r>
          </a:p>
        </p:txBody>
      </p:sp>
    </p:spTree>
    <p:extLst>
      <p:ext uri="{BB962C8B-B14F-4D97-AF65-F5344CB8AC3E}">
        <p14:creationId xmlns:p14="http://schemas.microsoft.com/office/powerpoint/2010/main" val="111838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31D65B-83F4-49C3-BCBB-020EEE00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A single narrative hides the work it summarizes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A887D5F-ED15-4E46-8B39-2D74BA91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3" name="single-answer">
            <a:extLst xmlns:a="http://schemas.openxmlformats.org/drawingml/2006/main">
              <a:ext uri="{FF2B5EF4-FFF2-40B4-BE49-F238E27FC236}">
                <a16:creationId xmlns:a16="http://schemas.microsoft.com/office/drawing/2014/main" id="{469BDDAD-C305-4E42-B872-E995B4BC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40957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9C8B9E4-2270-441C-904A-BB09FEB0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CONVENTIONAL RESEARCH ANSWER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9B6E621-AE42-48EA-8A52-D6AFBE1E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One coherent paragraph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A8E8B17-AEDC-411C-801F-7C1FC4B4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23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The reader gets a conclusion and citations, but may not see where reviewers differed, which claim carries the result, or whether several sources share the same lineage.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C004462-6393-4270-AA0A-05780F06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52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A1B"/>
                </a:solidFill>
              </a:defRPr>
            </a:pPr>
            <a:r>
              <a:rPr sz="1050" b="1">
                <a:solidFill>
                  <a:srgbClr val="D84A1B"/>
                </a:solidFill>
              </a:rPr>
              <a:t>EPISTACK CASE RECORD</a:t>
            </a:r>
          </a:p>
        </p:txBody>
      </p:sp>
      <p:sp>
        <p:nvSpPr>
          <p:cNvPr id="8" name="record-0">
            <a:extLst xmlns:a="http://schemas.openxmlformats.org/drawingml/2006/main">
              <a:ext uri="{FF2B5EF4-FFF2-40B4-BE49-F238E27FC236}">
                <a16:creationId xmlns:a16="http://schemas.microsoft.com/office/drawing/2014/main" id="{54DE00FF-7B77-46ED-BC92-C762E01C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AC6B23-5616-4686-B72A-99F204E3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764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Separate judgments</a:t>
            </a:r>
          </a:p>
        </p:txBody>
      </p:sp>
      <p:sp>
        <p:nvSpPr>
          <p:cNvPr id="10" name="record-1">
            <a:extLst xmlns:a="http://schemas.openxmlformats.org/drawingml/2006/main">
              <a:ext uri="{FF2B5EF4-FFF2-40B4-BE49-F238E27FC236}">
                <a16:creationId xmlns:a16="http://schemas.microsoft.com/office/drawing/2014/main" id="{A8EB1BA3-8899-49A6-A9B8-4C15FB1D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0FFBD3-D90F-4EAE-9F97-B79C8622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Cited support</a:t>
            </a:r>
          </a:p>
        </p:txBody>
      </p:sp>
      <p:sp>
        <p:nvSpPr>
          <p:cNvPr id="12" name="record-2">
            <a:extLst xmlns:a="http://schemas.openxmlformats.org/drawingml/2006/main">
              <a:ext uri="{FF2B5EF4-FFF2-40B4-BE49-F238E27FC236}">
                <a16:creationId xmlns:a16="http://schemas.microsoft.com/office/drawing/2014/main" id="{4C76E0CC-4152-4AAA-A9BD-DAB66349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BA8C6B-B235-4A91-A5F7-D8E92E2E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337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Load-bearing claim</a:t>
            </a:r>
          </a:p>
        </p:txBody>
      </p:sp>
      <p:sp>
        <p:nvSpPr>
          <p:cNvPr id="14" name="record-3">
            <a:extLst xmlns:a="http://schemas.openxmlformats.org/drawingml/2006/main">
              <a:ext uri="{FF2B5EF4-FFF2-40B4-BE49-F238E27FC236}">
                <a16:creationId xmlns:a16="http://schemas.microsoft.com/office/drawing/2014/main" id="{A263A5C1-6E12-4375-8155-3136442E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D22D791-B220-4F9D-8859-B2EBA2B5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Typed source relationships</a:t>
            </a:r>
          </a:p>
        </p:txBody>
      </p:sp>
      <p:sp>
        <p:nvSpPr>
          <p:cNvPr id="16" name="record-4">
            <a:extLst xmlns:a="http://schemas.openxmlformats.org/drawingml/2006/main">
              <a:ext uri="{FF2B5EF4-FFF2-40B4-BE49-F238E27FC236}">
                <a16:creationId xmlns:a16="http://schemas.microsoft.com/office/drawing/2014/main" id="{E294A605-184D-427C-922F-160B62EB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7E6E0B0-9B00-4A13-AC07-40D8E0A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910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Missing evidence</a:t>
            </a:r>
          </a:p>
        </p:txBody>
      </p:sp>
      <p:sp>
        <p:nvSpPr>
          <p:cNvPr id="18" name="record-5">
            <a:extLst xmlns:a="http://schemas.openxmlformats.org/drawingml/2006/main">
              <a:ext uri="{FF2B5EF4-FFF2-40B4-BE49-F238E27FC236}">
                <a16:creationId xmlns:a16="http://schemas.microsoft.com/office/drawing/2014/main" id="{C6BBF1CE-5B26-4A5B-97E0-68AE2838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2435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F79202D-E4A6-4FA4-AC7B-468F60AF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910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Revision history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A9D97E6-4B48-4E56-885F-8BE5462A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769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The output is a working record that can be checked and revised, not simply a longer answer.</a:t>
            </a:r>
          </a:p>
        </p:txBody>
      </p:sp>
      <p:sp>
        <p:nvSpPr>
          <p:cNvPr id="21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939CB05-BA6D-47CE-AA81-0141EA65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9991850-4DAD-449B-858C-5C025CEB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EPISTACK</a:t>
            </a:r>
          </a:p>
        </p:txBody>
      </p:sp>
      <p:sp>
        <p:nvSpPr>
          <p:cNvPr id="23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51EB49DE-83BE-491D-9724-C189D6E0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43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WORKFLOW DOCUMENT</a:t>
            </a:r>
          </a:p>
        </p:txBody>
      </p:sp>
    </p:spTree>
    <p:extLst>
      <p:ext uri="{BB962C8B-B14F-4D97-AF65-F5344CB8AC3E}">
        <p14:creationId xmlns:p14="http://schemas.microsoft.com/office/powerpoint/2010/main" val="2146422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CA2B93-F33D-4E2F-8ECA-0D7D51E8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Epistack extends an existing research toolkit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484C733-9ED5-4F05-A8AE-5F65009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1EF2226-2BFB-407F-9951-D848EC98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Atlas is the toolkit beneath Epistack. It stores traceable source records, retrieves passages, preserves separate judgments, and checks whether generated text is supported by evidence.</a:t>
            </a:r>
          </a:p>
        </p:txBody>
      </p:sp>
      <p:sp>
        <p:nvSpPr>
          <p:cNvPr id="4" name="source-to-atlas">
            <a:extLst xmlns:a="http://schemas.openxmlformats.org/drawingml/2006/main">
              <a:ext uri="{FF2B5EF4-FFF2-40B4-BE49-F238E27FC236}">
                <a16:creationId xmlns:a16="http://schemas.microsoft.com/office/drawing/2014/main" id="{CB539769-2AE9-4EA1-B3D8-E6C0263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480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to-epistack">
            <a:extLst xmlns:a="http://schemas.openxmlformats.org/drawingml/2006/main">
              <a:ext uri="{FF2B5EF4-FFF2-40B4-BE49-F238E27FC236}">
                <a16:creationId xmlns:a16="http://schemas.microsoft.com/office/drawing/2014/main" id="{59BB7E7D-A99D-4179-8197-89398E45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4A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pistack-to-record">
            <a:extLst xmlns:a="http://schemas.openxmlformats.org/drawingml/2006/main">
              <a:ext uri="{FF2B5EF4-FFF2-40B4-BE49-F238E27FC236}">
                <a16:creationId xmlns:a16="http://schemas.microsoft.com/office/drawing/2014/main" id="{7EB5BD9E-07E9-4BF2-B0A0-422B4086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480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4A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urce-corpus">
            <a:extLst xmlns:a="http://schemas.openxmlformats.org/drawingml/2006/main">
              <a:ext uri="{FF2B5EF4-FFF2-40B4-BE49-F238E27FC236}">
                <a16:creationId xmlns:a16="http://schemas.microsoft.com/office/drawing/2014/main" id="{D4A4A4AC-F39A-4C89-8847-DCD4C680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543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00DACC3-6725-4B73-BE1A-704BA2D5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A1B"/>
                </a:solidFill>
              </a:defRPr>
            </a:pPr>
            <a:r>
              <a:rPr sz="1050" b="1">
                <a:solidFill>
                  <a:srgbClr val="D84A1B"/>
                </a:solidFill>
              </a:rPr>
              <a:t>INPUT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19E464-2791-475C-A6BE-6664049E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Sources</a:t>
            </a:r>
          </a:p>
        </p:txBody>
      </p:sp>
      <p:sp>
        <p:nvSpPr>
          <p:cNvPr id="10" name="atlas-toolkit">
            <a:extLst xmlns:a="http://schemas.openxmlformats.org/drawingml/2006/main">
              <a:ext uri="{FF2B5EF4-FFF2-40B4-BE49-F238E27FC236}">
                <a16:creationId xmlns:a16="http://schemas.microsoft.com/office/drawing/2014/main" id="{24E9FC7E-132F-4855-AD4D-9266FE7A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43053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55C6B63-64C6-4449-BF64-C635E1DF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47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EXISTING TOOLKIT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FBE5F5-5B45-4CE8-9C26-B5D0D1F7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ATLAS</a:t>
            </a:r>
          </a:p>
        </p:txBody>
      </p:sp>
      <p:sp>
        <p:nvSpPr>
          <p:cNvPr id="13" name="atlas-part-0">
            <a:extLst xmlns:a="http://schemas.openxmlformats.org/drawingml/2006/main">
              <a:ext uri="{FF2B5EF4-FFF2-40B4-BE49-F238E27FC236}">
                <a16:creationId xmlns:a16="http://schemas.microsoft.com/office/drawing/2014/main" id="{7E7A27F9-56D7-4E94-AB2E-B5A2B10D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4A77B7C-65BB-4676-B536-539C267E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861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Source records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A94F25-A3F8-4C96-AB82-D73C49CB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718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Provenance and linked claims</a:t>
            </a:r>
          </a:p>
        </p:txBody>
      </p:sp>
      <p:sp>
        <p:nvSpPr>
          <p:cNvPr id="16" name="atlas-part-1">
            <a:extLst xmlns:a="http://schemas.openxmlformats.org/drawingml/2006/main">
              <a:ext uri="{FF2B5EF4-FFF2-40B4-BE49-F238E27FC236}">
                <a16:creationId xmlns:a16="http://schemas.microsoft.com/office/drawing/2014/main" id="{18D13EAE-313E-4D4B-80F6-76D3BF09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6FD2E06-6838-4160-884A-A61208AE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861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Passage retrieval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453DDC0-D2BC-4563-BBC3-1DA9D6FA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Relevant source text</a:t>
            </a:r>
          </a:p>
        </p:txBody>
      </p:sp>
      <p:sp>
        <p:nvSpPr>
          <p:cNvPr id="19" name="atlas-part-2">
            <a:extLst xmlns:a="http://schemas.openxmlformats.org/drawingml/2006/main">
              <a:ext uri="{FF2B5EF4-FFF2-40B4-BE49-F238E27FC236}">
                <a16:creationId xmlns:a16="http://schemas.microsoft.com/office/drawing/2014/main" id="{6DFF4B84-0D26-4E1D-970D-FE43D57F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7AB10F5-1910-4A59-9F58-A639DFB7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814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Separate judgments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7D80CA0-5F7E-4A28-86FF-A68A9284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672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Positions, reasons, citations</a:t>
            </a:r>
          </a:p>
        </p:txBody>
      </p:sp>
      <p:sp>
        <p:nvSpPr>
          <p:cNvPr id="22" name="atlas-part-3">
            <a:extLst xmlns:a="http://schemas.openxmlformats.org/drawingml/2006/main">
              <a:ext uri="{FF2B5EF4-FFF2-40B4-BE49-F238E27FC236}">
                <a16:creationId xmlns:a16="http://schemas.microsoft.com/office/drawing/2014/main" id="{63CA60FD-9F00-4FB8-8CA1-BA2F9482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957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6BF4A61-616D-481F-AFA0-08217BD2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814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Evidence checks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73933C9-A283-4645-BBEC-789B4B17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672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Support and uncertainty</a:t>
            </a:r>
          </a:p>
        </p:txBody>
      </p:sp>
      <p:sp>
        <p:nvSpPr>
          <p:cNvPr id="25" name="epistack-additions">
            <a:extLst xmlns:a="http://schemas.openxmlformats.org/drawingml/2006/main">
              <a:ext uri="{FF2B5EF4-FFF2-40B4-BE49-F238E27FC236}">
                <a16:creationId xmlns:a16="http://schemas.microsoft.com/office/drawing/2014/main" id="{30726340-8DA7-4A78-93AB-E1ACB4CE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29718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E"/>
          </a:solidFill>
          <a:ln xmlns:a="http://schemas.openxmlformats.org/drawingml/2006/main" w="9525">
            <a:solidFill>
              <a:srgbClr val="D84A1B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7E13975-6FF7-4995-B6A4-59AF460B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A1B"/>
                </a:solidFill>
              </a:defRPr>
            </a:pPr>
            <a:r>
              <a:rPr sz="1050" b="1">
                <a:solidFill>
                  <a:srgbClr val="D84A1B"/>
                </a:solidFill>
              </a:rPr>
              <a:t>EPISTACK ADDS</a:t>
            </a:r>
          </a:p>
        </p:txBody>
      </p:sp>
      <p:sp>
        <p:nvSpPr>
          <p:cNvPr id="27" name="crux-comparison">
            <a:extLst xmlns:a="http://schemas.openxmlformats.org/drawingml/2006/main">
              <a:ext uri="{FF2B5EF4-FFF2-40B4-BE49-F238E27FC236}">
                <a16:creationId xmlns:a16="http://schemas.microsoft.com/office/drawing/2014/main" id="{842681D2-526C-4C98-B6F1-D6C14BBE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1F42CD2-BD9F-4A3B-B9C8-95D3485A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Deterministic Crux comparison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432F0F5-446D-4CFF-8158-663D3FBB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Compares preserved judgments</a:t>
            </a:r>
          </a:p>
        </p:txBody>
      </p:sp>
      <p:sp>
        <p:nvSpPr>
          <p:cNvPr id="30" name="typed-relationship-audit">
            <a:extLst xmlns:a="http://schemas.openxmlformats.org/drawingml/2006/main">
              <a:ext uri="{FF2B5EF4-FFF2-40B4-BE49-F238E27FC236}">
                <a16:creationId xmlns:a16="http://schemas.microsoft.com/office/drawing/2014/main" id="{5403D3E8-FC0E-4126-B056-48683270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62C6583-BB5D-4A89-A60D-7977279E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386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Typed relationship audit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B81B126-5B22-4E2F-AD4D-677D2D63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Records links supported by passages</a:t>
            </a:r>
          </a:p>
        </p:txBody>
      </p:sp>
      <p:sp>
        <p:nvSpPr>
          <p:cNvPr id="33" name="case-record">
            <a:extLst xmlns:a="http://schemas.openxmlformats.org/drawingml/2006/main">
              <a:ext uri="{FF2B5EF4-FFF2-40B4-BE49-F238E27FC236}">
                <a16:creationId xmlns:a16="http://schemas.microsoft.com/office/drawing/2014/main" id="{4584E7E2-78DA-45D9-8D42-96256CAE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86050"/>
            <a:ext cx="1771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87F11342-6C29-463F-8506-6C67CD05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956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A1B"/>
                </a:solidFill>
              </a:defRPr>
            </a:pPr>
            <a:r>
              <a:rPr sz="1050" b="1">
                <a:solidFill>
                  <a:srgbClr val="D84A1B"/>
                </a:solidFill>
              </a:rPr>
              <a:t>OUTPUT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2629D4B1-4DE8-47F7-98A0-DE186BDA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33750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Case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record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C35A343-2C4C-44EE-870F-E2C19BDD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The case record preserves what each step used and produced, so a challenged claim or relationship can be revised without erasing the earlier record.</a:t>
            </a:r>
          </a:p>
        </p:txBody>
      </p:sp>
      <p:sp>
        <p:nvSpPr>
          <p:cNvPr id="37" name="footer-mark">
            <a:extLst xmlns:a="http://schemas.openxmlformats.org/drawingml/2006/main">
              <a:ext uri="{FF2B5EF4-FFF2-40B4-BE49-F238E27FC236}">
                <a16:creationId xmlns:a16="http://schemas.microsoft.com/office/drawing/2014/main" id="{564B5F6C-BBB2-420E-810B-520F0E07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34025B2-7464-486C-B80D-A540C836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EPISTACK</a:t>
            </a:r>
          </a:p>
        </p:txBody>
      </p:sp>
      <p:sp>
        <p:nvSpPr>
          <p:cNvPr id="39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EAA99A11-A20F-4C8D-93C7-35AB0607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43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WORKFLOW DOCUMENT</a:t>
            </a:r>
          </a:p>
        </p:txBody>
      </p:sp>
    </p:spTree>
    <p:extLst>
      <p:ext uri="{BB962C8B-B14F-4D97-AF65-F5344CB8AC3E}">
        <p14:creationId xmlns:p14="http://schemas.microsoft.com/office/powerpoint/2010/main" val="106470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27B1B1-C0BD-4057-B093-AF067881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The implemented pieces have clear boundaries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463D08-6DD6-4606-8FAB-417CDFDF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B629730-718B-4C3E-B149-3DBFF7F3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COMPONENT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5FF5FA7-432A-4F71-822F-60F04106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62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WHAT IT DOES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60472B6-4524-4BE4-8BAB-CD91E953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62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EVIDENCE IN THIS SUBMISSION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5BF5EBC5-8DDF-4C19-912E-517B1E15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6F73B97-08FF-4407-8514-87E74B39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28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Atlas source records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78F6F2-65C5-4587-8CB2-2B295B2E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287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Link documents, claims, and entities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9DCDF86-993A-45E3-8258-E91D72B5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287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Implemented in the existing toolkit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E3F8C81-3DA2-4E9D-A614-DEAD8B2E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Atlas retrieval and panel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4AF691-C73A-4064-A63D-A24AB126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764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Supply passages and preserve separate judgments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D9BB4C-B63B-4DC4-A511-3A9135C6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764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COVID and LHC panels executed</a:t>
            </a:r>
          </a:p>
        </p:txBody>
      </p:sp>
      <p:sp>
        <p:nvSpPr>
          <p:cNvPr id="13" name="row-2">
            <a:extLst xmlns:a="http://schemas.openxmlformats.org/drawingml/2006/main">
              <a:ext uri="{FF2B5EF4-FFF2-40B4-BE49-F238E27FC236}">
                <a16:creationId xmlns:a16="http://schemas.microsoft.com/office/drawing/2014/main" id="{C9DA6D89-ED39-4F7D-91DF-C8BA71AD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E0E901D-1CEC-4319-9C6B-8990208B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Atlas evidence checks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63BF410-FA91-4FF5-A492-F8CEFB6F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24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Test support and record uncertainty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2B2EB82-F9FC-4D01-A23E-BB9CBF2B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24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Implemented; metadata remained noisy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070B7C-B358-4DE6-87FE-1BA8D7E4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Crux comparison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57049F4-6C1F-435E-9B6E-93DC32DB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Deterministically compares panel output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6F706BE-AF13-4D2F-9E77-4991061D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Included component; 5/5 declared checks on one preserved panel</a:t>
            </a:r>
          </a:p>
        </p:txBody>
      </p:sp>
      <p:sp>
        <p:nvSpPr>
          <p:cNvPr id="20" name="row-4">
            <a:extLst xmlns:a="http://schemas.openxmlformats.org/drawingml/2006/main">
              <a:ext uri="{FF2B5EF4-FFF2-40B4-BE49-F238E27FC236}">
                <a16:creationId xmlns:a16="http://schemas.microsoft.com/office/drawing/2014/main" id="{8F81542D-64E9-49DB-8E45-2ABB8918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666F989-AB72-4A59-BFDA-266208FF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Citation graph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5C1257A-A619-41BA-B5DD-2E9C55A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95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Follows citations and identifies influence or clusters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9EABA76-1461-4B25-8DDD-EF01309A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9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Implemented in the Atlas adviser component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D211C5D-1C28-42A8-A817-617D382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672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Typed relationships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0CB6CC9-FF5B-4DD7-82E0-94341BC1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672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Record non-citation links supported by passages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CFEC568-1DE9-4EF2-BD07-FFB9B36B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72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One six-source LHC audit; no general service yet</a:t>
            </a:r>
          </a:p>
        </p:txBody>
      </p:sp>
      <p:sp>
        <p:nvSpPr>
          <p:cNvPr id="27" name="row-6">
            <a:extLst xmlns:a="http://schemas.openxmlformats.org/drawingml/2006/main">
              <a:ext uri="{FF2B5EF4-FFF2-40B4-BE49-F238E27FC236}">
                <a16:creationId xmlns:a16="http://schemas.microsoft.com/office/drawing/2014/main" id="{E73A7A29-2C3F-4298-91BF-290DA279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0C6B290-ABF0-42B8-831F-00D14B64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Case record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0F461BC-7F0F-4D4C-AF4F-2CB9DB1B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149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Combines evidence, objections, and revisions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B44F76E-EF87-44C1-AF87-D841A7B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149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Workflow specification plus preserved artifacts</a:t>
            </a:r>
          </a:p>
        </p:txBody>
      </p:sp>
      <p:sp>
        <p:nvSpPr>
          <p:cNvPr id="31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B6B35AE-2CD1-40DD-8D7F-B7EC2F4E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506AA01-A5BB-45F9-AD7B-693EF233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EPISTACK</a:t>
            </a:r>
          </a:p>
        </p:txBody>
      </p:sp>
      <p:sp>
        <p:nvSpPr>
          <p:cNvPr id="33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EC39074A-D769-4378-BCD1-31503F85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43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WORKFLOW DOCUMENT</a:t>
            </a:r>
          </a:p>
        </p:txBody>
      </p:sp>
    </p:spTree>
    <p:extLst>
      <p:ext uri="{BB962C8B-B14F-4D97-AF65-F5344CB8AC3E}">
        <p14:creationId xmlns:p14="http://schemas.microsoft.com/office/powerpoint/2010/main" val="1433029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2B8C96-EEE1-487D-9FBC-5CD19761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The comparison is about the record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6F6B315-1E2D-4435-9ACF-20B3F52A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1ABDFCE-4C5F-4FE8-803B-BC7949FD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One instructed Perplexity Deep Research run used the same COVID question and starting sources.</a:t>
            </a:r>
          </a:p>
        </p:txBody>
      </p:sp>
      <p:sp>
        <p:nvSpPr>
          <p:cNvPr id="4" name="perplexity">
            <a:extLst xmlns:a="http://schemas.openxmlformats.org/drawingml/2006/main">
              <a:ext uri="{FF2B5EF4-FFF2-40B4-BE49-F238E27FC236}">
                <a16:creationId xmlns:a16="http://schemas.microsoft.com/office/drawing/2014/main" id="{70F5D07B-87D9-4E73-9E48-8977987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5429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2AD2EE-D785-4A3C-A327-E79C59D0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PERPLEXITY DEEP RESEARCH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5A4E76-9EBD-4C61-8E3E-C5329662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Better single narrative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6B0C00-1B5B-4CFF-AC9F-34A4A034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It named ascertainment bias when directly asked and found useful source relationships.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85E289-5858-4220-ABA8-0A810B01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It also broadened shared authorship into a shared-dataset claim that the supplied texts did not support.</a:t>
            </a:r>
          </a:p>
        </p:txBody>
      </p:sp>
      <p:sp>
        <p:nvSpPr>
          <p:cNvPr id="9" name="epistack-record">
            <a:extLst xmlns:a="http://schemas.openxmlformats.org/drawingml/2006/main">
              <a:ext uri="{FF2B5EF4-FFF2-40B4-BE49-F238E27FC236}">
                <a16:creationId xmlns:a16="http://schemas.microsoft.com/office/drawing/2014/main" id="{6C6A13C1-2BCB-48E0-8B13-73EFCA5C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55435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1"/>
          </a:solidFill>
          <a:ln xmlns:a="http://schemas.openxmlformats.org/drawingml/2006/main" w="9525">
            <a:solidFill>
              <a:srgbClr val="D84A1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01E5EF-196F-41DA-8838-B3090ADA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A1B"/>
                </a:solidFill>
              </a:defRPr>
            </a:pPr>
            <a:r>
              <a:rPr sz="1050" b="1">
                <a:solidFill>
                  <a:srgbClr val="D84A1B"/>
                </a:solidFill>
              </a:rPr>
              <a:t>EPISTACK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28A4E8-8082-4374-9648-D735FABF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Different artifact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4C2CBE-E27D-470E-8291-B00FCAFC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It preserves separate judgments, cited passages, the proposed crux, typed source relationships, and corrections.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5D55F82-653A-4F3B-8775-5A828A57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148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One run cannot establish typical product behavior or an overall Epistack advantage.</a:t>
            </a:r>
          </a:p>
        </p:txBody>
      </p:sp>
      <p:sp>
        <p:nvSpPr>
          <p:cNvPr id="14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3BE695B-FF2B-4875-AB04-DB998BEA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2B79BBE-6CD7-4777-8196-35C6A431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EPISTACK</a:t>
            </a:r>
          </a:p>
        </p:txBody>
      </p:sp>
      <p:sp>
        <p:nvSpPr>
          <p:cNvPr id="16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6CB87AAE-F7F8-4AE5-9865-9BBCF1F6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43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WORKFLOW DOCUMENT</a:t>
            </a:r>
          </a:p>
        </p:txBody>
      </p:sp>
    </p:spTree>
    <p:extLst>
      <p:ext uri="{BB962C8B-B14F-4D97-AF65-F5344CB8AC3E}">
        <p14:creationId xmlns:p14="http://schemas.microsoft.com/office/powerpoint/2010/main" val="1579307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DD9644-F224-4672-BAF3-8A6CC5AE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COVID produced a concrete, contestable claim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52CC6D-F30B-44E5-9F94-B4D2F71E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B248120-ED06-451B-ABF6-54F34B22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How much of the observed Huanan clustering survives correction for how early cases were found?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452D5839-A6D7-4CB9-841B-53ECC3D0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A62140-1F80-4D7F-A052-8EC6A820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55ED3C-4ADB-490C-B1D1-1A892A4B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source documents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986E9E4B-494C-4D7D-B01B-FABD7C95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7170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067B8C-EFC2-4657-8226-9AB18D94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5F706A-76FA-4EF5-9570-35BBC5DF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57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separate judgments</a:t>
            </a:r>
          </a:p>
        </p:txBody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627C89F5-0D38-4882-8702-5848C960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F1F6F6C-2602-4419-9FE9-6BC45204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84A1B"/>
                </a:solidFill>
              </a:defRPr>
            </a:pPr>
            <a:r>
              <a:rPr sz="4050" b="1">
                <a:solidFill>
                  <a:srgbClr val="D84A1B"/>
                </a:solidFill>
              </a:rPr>
              <a:t>5/5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F898B0-85CD-454C-9482-47E488CC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required output checks</a:t>
            </a:r>
          </a:p>
        </p:txBody>
      </p:sp>
      <p:sp>
        <p:nvSpPr>
          <p:cNvPr id="13" name="metric-3">
            <a:extLst xmlns:a="http://schemas.openxmlformats.org/drawingml/2006/main">
              <a:ext uri="{FF2B5EF4-FFF2-40B4-BE49-F238E27FC236}">
                <a16:creationId xmlns:a16="http://schemas.microsoft.com/office/drawing/2014/main" id="{80410240-CA24-4EEE-9E26-D39431ED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7170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95D6E02-C0F0-43BD-9926-F54F8E88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A796FD2-C5E3-4F17-BD58-C122559D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57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tests passing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A43C9E8-806B-4171-859E-958C6963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checks establish that the extractor returns a concrete claim, positions, source references, disagreement type, original question, and stated change evidence on the preserved panel.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F2F9A90-224C-42A9-89E8-AB2EC2E1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They do not establish scientific correctness or general semantic accuracy. The source partitions were designed, and the reviewers were not independent experts.</a:t>
            </a:r>
          </a:p>
        </p:txBody>
      </p:sp>
      <p:sp>
        <p:nvSpPr>
          <p:cNvPr id="18" name="footer-mark">
            <a:extLst xmlns:a="http://schemas.openxmlformats.org/drawingml/2006/main">
              <a:ext uri="{FF2B5EF4-FFF2-40B4-BE49-F238E27FC236}">
                <a16:creationId xmlns:a16="http://schemas.microsoft.com/office/drawing/2014/main" id="{05313F63-FDAA-4C54-BC71-89FE0A77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021E92F-0955-4A14-8FBF-A548E01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EPISTACK</a:t>
            </a:r>
          </a:p>
        </p:txBody>
      </p:sp>
      <p:sp>
        <p:nvSpPr>
          <p:cNvPr id="20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D04BFF57-1DAF-4B9F-ABF9-476F819D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43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WORKFLOW DOCUMENT</a:t>
            </a:r>
          </a:p>
        </p:txBody>
      </p:sp>
    </p:spTree>
    <p:extLst>
      <p:ext uri="{BB962C8B-B14F-4D97-AF65-F5344CB8AC3E}">
        <p14:creationId xmlns:p14="http://schemas.microsoft.com/office/powerpoint/2010/main" val="243386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B57465-C0A3-4C4C-A380-BAE0AEB9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The LHC case needs logic and source links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C2F1CD4-8FD6-4025-9F31-104AE8A8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3" name="lhc-tree">
            <a:extLst xmlns:a="http://schemas.openxmlformats.org/drawingml/2006/main">
              <a:ext uri="{FF2B5EF4-FFF2-40B4-BE49-F238E27FC236}">
                <a16:creationId xmlns:a16="http://schemas.microsoft.com/office/drawing/2014/main" id="{152062D4-9E0B-4404-B1B1-CAD74918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72390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86D62E5-2CA0-4E09-A6E7-A2C53F4E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ARGUMENT STRUCTURE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6ED0DA-F26F-4BCE-BEA0-B40651D2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Standard physics does not expect dangerous production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04D01D-3F7E-4D95-AE7B-ECC1BC2F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↓ if speculative production occurs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6BAAE2-577E-4CBC-8D59-E483287D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Rapid Hawking evaporation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E600367-67CC-4BA5-B99C-B120AC40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57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↓ if a microscopic black hole is stable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9D1CBCE-90FC-41D4-9450-8ED297F0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766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Charged: cosmic-ray analogues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447930-D76F-43C4-B78B-DEDE2180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719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Neutral: dense-star survival and accretion bounds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54DB948-ED2E-47C5-9C84-2C82B1F0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4A1B"/>
                </a:solidFill>
              </a:defRPr>
            </a:pPr>
            <a:r>
              <a:rPr sz="1500" b="1">
                <a:solidFill>
                  <a:srgbClr val="D84A1B"/>
                </a:solidFill>
              </a:rPr>
              <a:t>Epistack preserves the branches and the condition that triggers each one.</a:t>
            </a:r>
          </a:p>
        </p:txBody>
      </p:sp>
      <p:sp>
        <p:nvSpPr>
          <p:cNvPr id="12" name="lhc-lineage">
            <a:extLst xmlns:a="http://schemas.openxmlformats.org/drawingml/2006/main">
              <a:ext uri="{FF2B5EF4-FFF2-40B4-BE49-F238E27FC236}">
                <a16:creationId xmlns:a16="http://schemas.microsoft.com/office/drawing/2014/main" id="{FBEF0F2F-9544-43F1-BCAB-D5420244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38250"/>
            <a:ext cx="37909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0F4058-0636-4FCE-A5B5-B8D4A8D8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SOURCE RELATIONSHIPS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472E52A-A638-4928-9C17-8E464CC9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2 → 12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CEE9EF2-B3B9-4E0D-9ECC-224DA22F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passages retained per reviewer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FD370EF-C12A-4BC6-AD9B-2C4D760A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The retained passages contained both Mangano bylines. The panel judgments did not connect them, and the adviser acknowledgment was not retrieved.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589EF27-787D-4411-8ADE-CA08A115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4A1B"/>
                </a:solidFill>
              </a:defRPr>
            </a:pPr>
            <a:r>
              <a:rPr sz="1500" b="1">
                <a:solidFill>
                  <a:srgbClr val="D84A1B"/>
                </a:solidFill>
              </a:rPr>
              <a:t>Epistack records source relationships across the case.</a:t>
            </a:r>
          </a:p>
        </p:txBody>
      </p:sp>
      <p:sp>
        <p:nvSpPr>
          <p:cNvPr id="18" name="footer-mark">
            <a:extLst xmlns:a="http://schemas.openxmlformats.org/drawingml/2006/main">
              <a:ext uri="{FF2B5EF4-FFF2-40B4-BE49-F238E27FC236}">
                <a16:creationId xmlns:a16="http://schemas.microsoft.com/office/drawing/2014/main" id="{6D133F87-35CA-4C53-9C80-E0C5AE6F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B40886B-D7B3-4C4F-A43D-BCFFE66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EPISTACK</a:t>
            </a:r>
          </a:p>
        </p:txBody>
      </p:sp>
      <p:sp>
        <p:nvSpPr>
          <p:cNvPr id="20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5920A77C-98A7-46A7-AF66-B3429564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43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WORKFLOW DOCUMENT</a:t>
            </a:r>
          </a:p>
        </p:txBody>
      </p:sp>
    </p:spTree>
    <p:extLst>
      <p:ext uri="{BB962C8B-B14F-4D97-AF65-F5344CB8AC3E}">
        <p14:creationId xmlns:p14="http://schemas.microsoft.com/office/powerpoint/2010/main" val="4938070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F3EB97-0551-49A5-8E26-95A89DEC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Another investigator can continue the case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F794FA-4BEB-4932-9623-6FF7E6BD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3" name="deliverable-0">
            <a:extLst xmlns:a="http://schemas.openxmlformats.org/drawingml/2006/main">
              <a:ext uri="{FF2B5EF4-FFF2-40B4-BE49-F238E27FC236}">
                <a16:creationId xmlns:a16="http://schemas.microsoft.com/office/drawing/2014/main" id="{A5300D91-317F-4300-829E-F18106B1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56DD04-2CE2-41FF-85D3-A9D9DEA0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Source ledger</a:t>
            </a:r>
          </a:p>
        </p:txBody>
      </p:sp>
      <p:sp>
        <p:nvSpPr>
          <p:cNvPr id="5" name="deliverable-1">
            <a:extLst xmlns:a="http://schemas.openxmlformats.org/drawingml/2006/main">
              <a:ext uri="{FF2B5EF4-FFF2-40B4-BE49-F238E27FC236}">
                <a16:creationId xmlns:a16="http://schemas.microsoft.com/office/drawing/2014/main" id="{CCF8D407-CB34-43B7-B23C-5429E215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685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AB4935-6894-4D03-8AEF-0CC8FBBD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430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Separate judgments</a:t>
            </a:r>
          </a:p>
        </p:txBody>
      </p:sp>
      <p:sp>
        <p:nvSpPr>
          <p:cNvPr id="7" name="deliverable-2">
            <a:extLst xmlns:a="http://schemas.openxmlformats.org/drawingml/2006/main">
              <a:ext uri="{FF2B5EF4-FFF2-40B4-BE49-F238E27FC236}">
                <a16:creationId xmlns:a16="http://schemas.microsoft.com/office/drawing/2014/main" id="{80013D14-8F23-4117-A785-79A7D4EC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176B3A-9AA7-411B-A5C0-ED23FC07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430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Crux card</a:t>
            </a:r>
          </a:p>
        </p:txBody>
      </p:sp>
      <p:sp>
        <p:nvSpPr>
          <p:cNvPr id="9" name="deliverable-3">
            <a:extLst xmlns:a="http://schemas.openxmlformats.org/drawingml/2006/main">
              <a:ext uri="{FF2B5EF4-FFF2-40B4-BE49-F238E27FC236}">
                <a16:creationId xmlns:a16="http://schemas.microsoft.com/office/drawing/2014/main" id="{2DB51E0E-4635-4484-BC97-303A96EC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E3AE951-C1E4-4315-9911-99F826B5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Typed relationship record</a:t>
            </a:r>
          </a:p>
        </p:txBody>
      </p:sp>
      <p:sp>
        <p:nvSpPr>
          <p:cNvPr id="11" name="deliverable-4">
            <a:extLst xmlns:a="http://schemas.openxmlformats.org/drawingml/2006/main">
              <a:ext uri="{FF2B5EF4-FFF2-40B4-BE49-F238E27FC236}">
                <a16:creationId xmlns:a16="http://schemas.microsoft.com/office/drawing/2014/main" id="{3E84E447-A42D-4909-B924-F5BB9BF0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0F3FA7F-00D5-4EE2-9656-0A972B09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0512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Missing-evidence note</a:t>
            </a:r>
          </a:p>
        </p:txBody>
      </p:sp>
      <p:sp>
        <p:nvSpPr>
          <p:cNvPr id="13" name="deliverable-5">
            <a:extLst xmlns:a="http://schemas.openxmlformats.org/drawingml/2006/main">
              <a:ext uri="{FF2B5EF4-FFF2-40B4-BE49-F238E27FC236}">
                <a16:creationId xmlns:a16="http://schemas.microsoft.com/office/drawing/2014/main" id="{51406EED-D589-4FFE-869F-705CCE72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263BAF0-0D12-4B14-86E9-9CF648D3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Objections and revisions</a:t>
            </a:r>
          </a:p>
        </p:txBody>
      </p:sp>
      <p:sp>
        <p:nvSpPr>
          <p:cNvPr id="15" name="appendix-callout">
            <a:extLst xmlns:a="http://schemas.openxmlformats.org/drawingml/2006/main">
              <a:ext uri="{FF2B5EF4-FFF2-40B4-BE49-F238E27FC236}">
                <a16:creationId xmlns:a16="http://schemas.microsoft.com/office/drawing/2014/main" id="{A3A002A8-C83A-401C-994F-7A72CA3E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66850"/>
            <a:ext cx="26860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551FB41-D9EA-473A-A8D0-F66122E0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14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A1B"/>
                </a:solidFill>
              </a:defRPr>
            </a:pPr>
            <a:r>
              <a:rPr sz="1050" b="1">
                <a:solidFill>
                  <a:srgbClr val="D84A1B"/>
                </a:solidFill>
              </a:rPr>
              <a:t>REPOSITORY INDEX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D32913F-1366-4400-A857-BCF42922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52650"/>
            <a:ext cx="2190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Proposal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Workflow specification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COVID evidence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LHC evidence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Deep Research comparison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Extractor validation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Reproducibility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EC30FA6-4284-469F-BCBB-B63D0516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8096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Implemented: traceable judgments, Crux comparison, and inspectable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Not yet established: a consolidated revision interface or broader user evaluation.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38164FB-BD4D-480A-989E-5261CC8B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repository index links each claim to its evidence and reproducibility materials.</a:t>
            </a:r>
          </a:p>
        </p:txBody>
      </p:sp>
      <p:sp>
        <p:nvSpPr>
          <p:cNvPr id="20" name="footer-mark">
            <a:extLst xmlns:a="http://schemas.openxmlformats.org/drawingml/2006/main">
              <a:ext uri="{FF2B5EF4-FFF2-40B4-BE49-F238E27FC236}">
                <a16:creationId xmlns:a16="http://schemas.microsoft.com/office/drawing/2014/main" id="{A6E09EB1-1170-4336-9E40-704B22E7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0E44E25-1B5E-45A4-8D03-F86A20BB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EPISTACK</a:t>
            </a:r>
          </a:p>
        </p:txBody>
      </p:sp>
      <p:sp>
        <p:nvSpPr>
          <p:cNvPr id="22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4A290DA8-2CC9-4045-B236-3EE324E1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43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END OF DECK · APPENDIX INDEX FOLLOWS IN THE SITE</a:t>
            </a:r>
          </a:p>
        </p:txBody>
      </p:sp>
    </p:spTree>
    <p:extLst>
      <p:ext uri="{BB962C8B-B14F-4D97-AF65-F5344CB8AC3E}">
        <p14:creationId xmlns:p14="http://schemas.microsoft.com/office/powerpoint/2010/main" val="1933085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2026-07-20T02:26:16.8990000Z</dcterms:created>
  <dcterms:modified xsi:type="dcterms:W3CDTF">2026-07-20T02:26:16.8990000Z</dcterms:modified>
</coreProperties>
</file>